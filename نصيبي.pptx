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1" r:id="rId2"/>
    <p:sldId id="282" r:id="rId3"/>
    <p:sldId id="283" r:id="rId4"/>
    <p:sldId id="28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B810B7-62E6-45D5-A2D3-9FAD28C738E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768D1-6B49-4B03-961C-5E8EEC031A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09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4E5EB-D2B9-7EC4-EE92-C1C2434DC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3CA23C-B61C-87A0-FEF7-E707794FE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FC9A5-B3E1-8C86-705B-28998C852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C9B8-A413-406D-BEDD-BE6EDF5698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D705B-C6A2-6777-0CD6-9875DA6BA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60CB5-E984-1B04-DC34-AC81E541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5481D-D7EC-4A06-AF21-999D523A9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5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EB74A-EDC3-1DA2-4598-F46D9286A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BD90E-126E-7787-A719-38D23CABE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6742A-A91E-CA60-CDA9-FE1D1045B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C9B8-A413-406D-BEDD-BE6EDF5698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CA4CA-BAD1-707F-04FC-8D9A354A3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0188F-3D91-688E-7BCE-26CC272C1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5481D-D7EC-4A06-AF21-999D523A9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66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08A98-29F3-3DED-C272-BC108D53B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33DFE-010E-A31A-D37C-CAF855EBB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39087-463F-EE3A-1D10-6FCDC0330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C9B8-A413-406D-BEDD-BE6EDF5698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31935-0A1A-6C58-EEF0-D6880A3DE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01782-81BD-0EFF-1C20-FFEFDDF5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5481D-D7EC-4A06-AF21-999D523A9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86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D085-9081-64C8-C3E6-57D0ACA10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57803-4CC4-3D33-4A8E-E40F67FA7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91CA1-3163-8999-4FD0-12EB1335F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07A92-B45B-581F-0FA4-320F0BEDC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C9B8-A413-406D-BEDD-BE6EDF5698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0989B-C23A-869A-6ADB-C6161F662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CA950-AB96-3C25-D49D-A05C3D2F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5481D-D7EC-4A06-AF21-999D523A9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5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9140F-8BA5-1FB3-F52B-A21D4C183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BDF3C-28EC-F823-BEB1-991B1CAC1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D00A4-FED7-A47C-CC24-01E85E06D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6DEC00-8840-DF5C-A504-A450A5D6C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F20002-81BA-0457-C5EA-771EF9577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738C2C-D4ED-241B-64A4-EC66FDA6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C9B8-A413-406D-BEDD-BE6EDF5698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41B825-CBAC-462D-702D-4A588E1A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3BCFD4-9E3D-D863-BE91-7208A501C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5481D-D7EC-4A06-AF21-999D523A9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81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F0408-A691-C5EE-5427-FCB1117B9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B83F1-5B91-9EBE-BCD5-4C345C7D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C9B8-A413-406D-BEDD-BE6EDF5698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E75F2-FBA6-5223-3F72-37843D619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EB2A1-6B23-F7BF-AAA9-A978E62C2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5481D-D7EC-4A06-AF21-999D523A9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47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1F0E9E-D481-E72B-49F5-9796F60F2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C9B8-A413-406D-BEDD-BE6EDF5698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A2AD98-3F27-4C84-7DBF-1B885966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FFE59-5030-7FB0-3A1B-EC5B73CE3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5481D-D7EC-4A06-AF21-999D523A9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11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21B4-8681-C471-6F5C-048FB64F3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F9BEF-66EC-9BC6-B655-80455B875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C9AD7-4BA7-2728-D364-A61ADC24E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820F7-79BF-42AA-DE1B-25AB527BF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C9B8-A413-406D-BEDD-BE6EDF5698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1D383-B57E-D460-D775-DF958A73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EB16E-0598-1F0E-9A1C-6C60821C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5481D-D7EC-4A06-AF21-999D523A9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02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B16F-382A-36A6-5B2E-BCB542DED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642303-9A5C-13E9-7EB7-A24EED03C9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08570-B501-D60B-3CB1-2D18759E0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5CDAF-567B-24ED-7D84-F57D14686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C9B8-A413-406D-BEDD-BE6EDF5698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C3D8E-A6A8-65F1-1A92-DAE54D99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72A46-F1A2-2068-5DB1-DB025CF4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5481D-D7EC-4A06-AF21-999D523A9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25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1F83-C7F5-4996-8378-379B1E48C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74CD28-E96A-8F26-1A84-0F95B3A8D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63DCB-95C2-E716-157C-DCC64F965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C9B8-A413-406D-BEDD-BE6EDF5698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2C898-5553-E11D-9988-CFD6CB54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4DD23-5032-8782-7A90-37FCB122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5481D-D7EC-4A06-AF21-999D523A9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4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A97EA8-846A-9289-76FA-9F3976DF5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E3E18-A63E-3671-5FC3-0D074D6D0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58925-3F9F-5191-A030-C974729AC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C9B8-A413-406D-BEDD-BE6EDF5698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C34BD-63FE-C750-79E8-6FD0B321F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02B54-2AA4-6309-7AC8-464234E66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5481D-D7EC-4A06-AF21-999D523A9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97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3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3BE6E-6BC9-2779-3C59-A2592FA9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8C744-44BE-E865-17FD-5F540A93E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573A2-2EB9-98CB-C2AB-6BF4804A6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0C9B8-A413-406D-BEDD-BE6EDF5698A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3E416-A996-F055-2341-71A6CF257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50C44-D550-A494-EBF9-7D2A007F7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5481D-D7EC-4A06-AF21-999D523A9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4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28825" y="0"/>
            <a:ext cx="2038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67175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0" y="0"/>
            <a:ext cx="2038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&amp; INTEL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134350" y="0"/>
            <a:ext cx="2028825" cy="3429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8134350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163175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1500" y="533400"/>
            <a:ext cx="38100" cy="2667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723900" y="495300"/>
            <a:ext cx="5715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1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Agent Code Sandbox</a:t>
            </a:r>
            <a:endParaRPr lang="en-US" sz="2100" dirty="0"/>
          </a:p>
        </p:txBody>
      </p:sp>
      <p:pic>
        <p:nvPicPr>
          <p:cNvPr id="12" name="Image 0" descr="https://kimi-img.moonshot.cn/pub/slides/okc/ajpfdnh3gjiss/mnt/agents/output/cybersecurity-sandbox/images/WhatsApp%20Image%202026-06-18%20at%201.54.48%20A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000125"/>
            <a:ext cx="6858000" cy="3524250"/>
          </a:xfrm>
          <a:prstGeom prst="roundRect">
            <a:avLst>
              <a:gd name="adj" fmla="val 5000"/>
            </a:avLst>
          </a:prstGeom>
          <a:effectLst>
            <a:outerShdw blurRad="177800" dist="50800" dir="5400000" algn="bl" rotWithShape="0">
              <a:srgbClr val="0D7377">
                <a:alpha val="12549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571500" y="4572000"/>
            <a:ext cx="6858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 Code Execution Sandbox — Python Editor with gVisor MicroVM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15250" y="1000125"/>
            <a:ext cx="3905250" cy="3524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D7377">
                <a:alpha val="6275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5" name="Text 12"/>
          <p:cNvSpPr/>
          <p:nvPr/>
        </p:nvSpPr>
        <p:spPr>
          <a:xfrm>
            <a:off x="7905750" y="1123950"/>
            <a:ext cx="35242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Code Execution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905750" y="1476375"/>
            <a:ext cx="3524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125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untrusted Python payloads in isolated </a:t>
            </a:r>
            <a:r>
              <a:rPr lang="en-US" sz="1125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E2B microVMs</a:t>
            </a:r>
            <a:r>
              <a:rPr lang="en-US" sz="1125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hardened via </a:t>
            </a:r>
            <a:r>
              <a:rPr lang="en-US" sz="1125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gVisor</a:t>
            </a:r>
            <a:r>
              <a:rPr lang="en-US" sz="1125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container runtime.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7905750" y="2333625"/>
            <a:ext cx="3524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905750" y="2619375"/>
            <a:ext cx="3524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050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Built-in Python code editor</a:t>
            </a:r>
            <a:endParaRPr lang="en-US" sz="1050" dirty="0"/>
          </a:p>
          <a:p>
            <a:pPr algn="l">
              <a:lnSpc>
                <a:spcPct val="170000"/>
              </a:lnSpc>
            </a:pPr>
            <a:r>
              <a:rPr lang="en-US" sz="1050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execution terminal</a:t>
            </a:r>
            <a:endParaRPr lang="en-US" sz="1050" dirty="0"/>
          </a:p>
          <a:p>
            <a:pPr algn="l">
              <a:lnSpc>
                <a:spcPct val="170000"/>
              </a:lnSpc>
            </a:pPr>
            <a:r>
              <a:rPr lang="en-US" sz="1050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Historic detonation runs log</a:t>
            </a:r>
            <a:endParaRPr lang="en-US" sz="1050" dirty="0"/>
          </a:p>
          <a:p>
            <a:pPr algn="l">
              <a:lnSpc>
                <a:spcPct val="170000"/>
              </a:lnSpc>
            </a:pPr>
            <a:r>
              <a:rPr lang="en-US" sz="1050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Execution telemetry access</a:t>
            </a:r>
            <a:endParaRPr lang="en-US" sz="1050" dirty="0"/>
          </a:p>
          <a:p>
            <a:pPr algn="l">
              <a:lnSpc>
                <a:spcPct val="170000"/>
              </a:lnSpc>
            </a:pPr>
            <a:r>
              <a:rPr lang="en-US" sz="1050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~2000ms average runtime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05750" y="4048125"/>
            <a:ext cx="1333500" cy="28575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0" name="Text 17"/>
          <p:cNvSpPr/>
          <p:nvPr/>
        </p:nvSpPr>
        <p:spPr>
          <a:xfrm>
            <a:off x="7905750" y="4048125"/>
            <a:ext cx="1333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3.10 Ready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1500" y="5000625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2" name="Text 19"/>
          <p:cNvSpPr/>
          <p:nvPr/>
        </p:nvSpPr>
        <p:spPr>
          <a:xfrm>
            <a:off x="762000" y="5000625"/>
            <a:ext cx="1066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Case:</a:t>
            </a: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Security analysts can write custom scripts to unpack malware, test suspicious code snippets, or validate detection logic without risking their local workstation.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28825" y="0"/>
            <a:ext cx="2038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67175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0" y="0"/>
            <a:ext cx="2038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&amp; INTEL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134350" y="0"/>
            <a:ext cx="2028825" cy="3429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8134350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163175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1500" y="533400"/>
            <a:ext cx="38100" cy="2667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723900" y="495300"/>
            <a:ext cx="666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1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Browser Isolation</a:t>
            </a:r>
            <a:endParaRPr lang="en-US" sz="2100" dirty="0"/>
          </a:p>
        </p:txBody>
      </p:sp>
      <p:pic>
        <p:nvPicPr>
          <p:cNvPr id="12" name="Image 0" descr="https://kimi-img.moonshot.cn/pub/slides/okc/ajpfdnh3gjiss/mnt/agents/output/cybersecurity-sandbox/images/WhatsApp%20Image%202026-06-18%20at%201.56.32%20A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000125"/>
            <a:ext cx="5381625" cy="2667000"/>
          </a:xfrm>
          <a:prstGeom prst="roundRect">
            <a:avLst>
              <a:gd name="adj" fmla="val 5000"/>
            </a:avLst>
          </a:prstGeom>
          <a:effectLst>
            <a:outerShdw blurRad="152400" dist="50800" dir="5400000" algn="bl" rotWithShape="0">
              <a:srgbClr val="0D7377">
                <a:alpha val="12549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571500" y="3714750"/>
            <a:ext cx="53816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Isolation &amp; Sanitization Services — Kasm Workspace Integration</a:t>
            </a:r>
            <a:endParaRPr lang="en-US" sz="1050" dirty="0"/>
          </a:p>
        </p:txBody>
      </p:sp>
      <p:pic>
        <p:nvPicPr>
          <p:cNvPr id="14" name="Image 1" descr="https://kimi-img.moonshot.cn/pub/slides/okc/ajpfdnh3gjiss/mnt/agents/output/cybersecurity-sandbox/images/WhatsApp%20Image%202026-06-18%20at%201.57.28%20AM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38875" y="1000125"/>
            <a:ext cx="5381625" cy="2667000"/>
          </a:xfrm>
          <a:prstGeom prst="roundRect">
            <a:avLst>
              <a:gd name="adj" fmla="val 5000"/>
            </a:avLst>
          </a:prstGeom>
          <a:effectLst>
            <a:outerShdw blurRad="152400" dist="50800" dir="5400000" algn="bl" rotWithShape="0">
              <a:srgbClr val="0D7377">
                <a:alpha val="12549"/>
              </a:srgbClr>
            </a:outerShdw>
          </a:effectLst>
        </p:spPr>
      </p:pic>
      <p:sp>
        <p:nvSpPr>
          <p:cNvPr id="15" name="Text 11"/>
          <p:cNvSpPr/>
          <p:nvPr/>
        </p:nvSpPr>
        <p:spPr>
          <a:xfrm>
            <a:off x="6238875" y="3714750"/>
            <a:ext cx="53816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Facebook Running in Isolated Kasm Chrome Container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71500" y="4095750"/>
            <a:ext cx="11049000" cy="95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D7377">
                <a:alpha val="6275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7" name="Text 13"/>
          <p:cNvSpPr/>
          <p:nvPr/>
        </p:nvSpPr>
        <p:spPr>
          <a:xfrm>
            <a:off x="762000" y="4171950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Isolation Workflow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62000" y="4476750"/>
            <a:ext cx="1476375" cy="400050"/>
          </a:xfrm>
          <a:prstGeom prst="roundRect">
            <a:avLst>
              <a:gd name="adj" fmla="val 10000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9" name="Text 15"/>
          <p:cNvSpPr/>
          <p:nvPr/>
        </p:nvSpPr>
        <p:spPr>
          <a:xfrm>
            <a:off x="762000" y="4476750"/>
            <a:ext cx="147637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 Suspicious URL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238375" y="4676775"/>
            <a:ext cx="238125" cy="0"/>
          </a:xfrm>
          <a:prstGeom prst="straightConnector1">
            <a:avLst/>
          </a:prstGeom>
          <a:noFill/>
          <a:ln w="25400">
            <a:solidFill>
              <a:srgbClr val="0D7377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Shape 17"/>
          <p:cNvSpPr/>
          <p:nvPr/>
        </p:nvSpPr>
        <p:spPr>
          <a:xfrm>
            <a:off x="2476500" y="4476750"/>
            <a:ext cx="1476375" cy="400050"/>
          </a:xfrm>
          <a:prstGeom prst="roundRect">
            <a:avLst>
              <a:gd name="adj" fmla="val 10000"/>
            </a:avLst>
          </a:prstGeom>
          <a:solidFill>
            <a:srgbClr val="14919B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2" name="Text 18"/>
          <p:cNvSpPr/>
          <p:nvPr/>
        </p:nvSpPr>
        <p:spPr>
          <a:xfrm>
            <a:off x="2476500" y="4476750"/>
            <a:ext cx="147637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Kasm API Request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952875" y="4676775"/>
            <a:ext cx="238125" cy="0"/>
          </a:xfrm>
          <a:prstGeom prst="straightConnector1">
            <a:avLst/>
          </a:prstGeom>
          <a:noFill/>
          <a:ln w="25400">
            <a:solidFill>
              <a:srgbClr val="14919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 sz="1350"/>
          </a:p>
        </p:txBody>
      </p:sp>
      <p:sp>
        <p:nvSpPr>
          <p:cNvPr id="24" name="Shape 20"/>
          <p:cNvSpPr/>
          <p:nvPr/>
        </p:nvSpPr>
        <p:spPr>
          <a:xfrm>
            <a:off x="4191000" y="4476750"/>
            <a:ext cx="1476375" cy="40005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5" name="Text 21"/>
          <p:cNvSpPr/>
          <p:nvPr/>
        </p:nvSpPr>
        <p:spPr>
          <a:xfrm>
            <a:off x="4191000" y="4476750"/>
            <a:ext cx="147637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Spawn Container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667375" y="4676775"/>
            <a:ext cx="238125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 sz="1350"/>
          </a:p>
        </p:txBody>
      </p:sp>
      <p:sp>
        <p:nvSpPr>
          <p:cNvPr id="27" name="Shape 23"/>
          <p:cNvSpPr/>
          <p:nvPr/>
        </p:nvSpPr>
        <p:spPr>
          <a:xfrm>
            <a:off x="5905500" y="4476750"/>
            <a:ext cx="1476375" cy="40005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8" name="Text 24"/>
          <p:cNvSpPr/>
          <p:nvPr/>
        </p:nvSpPr>
        <p:spPr>
          <a:xfrm>
            <a:off x="5905500" y="4476750"/>
            <a:ext cx="147637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 Streaming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7381875" y="4676775"/>
            <a:ext cx="238125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Shape 26"/>
          <p:cNvSpPr/>
          <p:nvPr/>
        </p:nvSpPr>
        <p:spPr>
          <a:xfrm>
            <a:off x="7620000" y="4476750"/>
            <a:ext cx="1476375" cy="400050"/>
          </a:xfrm>
          <a:prstGeom prst="roundRect">
            <a:avLst>
              <a:gd name="adj" fmla="val 10000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1" name="Text 27"/>
          <p:cNvSpPr/>
          <p:nvPr/>
        </p:nvSpPr>
        <p:spPr>
          <a:xfrm>
            <a:off x="7620000" y="4476750"/>
            <a:ext cx="147637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 Investigation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571500" y="5286375"/>
            <a:ext cx="11049000" cy="333375"/>
          </a:xfrm>
          <a:prstGeom prst="roundRect">
            <a:avLst>
              <a:gd name="adj" fmla="val 6000"/>
            </a:avLst>
          </a:prstGeom>
          <a:solidFill>
            <a:srgbClr val="10B981">
              <a:alpha val="6275"/>
            </a:srgb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3" name="Shape 29"/>
          <p:cNvSpPr/>
          <p:nvPr/>
        </p:nvSpPr>
        <p:spPr>
          <a:xfrm>
            <a:off x="762000" y="535305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2210" y="0"/>
                  <a:pt x="144720" y="546"/>
                  <a:pt x="147012" y="1583"/>
                </a:cubicBezTo>
                <a:lnTo>
                  <a:pt x="249823" y="45184"/>
                </a:lnTo>
                <a:cubicBezTo>
                  <a:pt x="261828" y="50259"/>
                  <a:pt x="270778" y="62101"/>
                  <a:pt x="270723" y="76398"/>
                </a:cubicBezTo>
                <a:cubicBezTo>
                  <a:pt x="270450" y="130532"/>
                  <a:pt x="248186" y="229577"/>
                  <a:pt x="154161" y="274598"/>
                </a:cubicBezTo>
                <a:cubicBezTo>
                  <a:pt x="145048" y="278963"/>
                  <a:pt x="134461" y="278963"/>
                  <a:pt x="125348" y="274598"/>
                </a:cubicBezTo>
                <a:cubicBezTo>
                  <a:pt x="31269" y="229577"/>
                  <a:pt x="9059" y="130532"/>
                  <a:pt x="8786" y="76398"/>
                </a:cubicBezTo>
                <a:cubicBezTo>
                  <a:pt x="8731" y="62101"/>
                  <a:pt x="17681" y="50259"/>
                  <a:pt x="29686" y="45184"/>
                </a:cubicBezTo>
                <a:lnTo>
                  <a:pt x="132442" y="1583"/>
                </a:lnTo>
                <a:cubicBezTo>
                  <a:pt x="134734" y="546"/>
                  <a:pt x="137190" y="0"/>
                  <a:pt x="139700" y="0"/>
                </a:cubicBezTo>
                <a:close/>
                <a:moveTo>
                  <a:pt x="139700" y="36453"/>
                </a:moveTo>
                <a:lnTo>
                  <a:pt x="139700" y="242783"/>
                </a:lnTo>
                <a:cubicBezTo>
                  <a:pt x="215007" y="206330"/>
                  <a:pt x="235253" y="125566"/>
                  <a:pt x="235744" y="77217"/>
                </a:cubicBezTo>
                <a:lnTo>
                  <a:pt x="139700" y="36508"/>
                </a:lnTo>
                <a:lnTo>
                  <a:pt x="139700" y="36508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34" name="Text 30"/>
          <p:cNvSpPr/>
          <p:nvPr/>
        </p:nvSpPr>
        <p:spPr>
          <a:xfrm>
            <a:off x="1066800" y="5286375"/>
            <a:ext cx="10287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25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web scripts, exploits, and drive-by downloads execute only in the </a:t>
            </a:r>
            <a:r>
              <a:rPr lang="en-US" sz="1125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container</a:t>
            </a:r>
            <a:r>
              <a:rPr lang="en-US" sz="1125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analyst's endpoint remains completely safe.</a:t>
            </a:r>
            <a:endParaRPr lang="en-US" sz="1125" dirty="0"/>
          </a:p>
        </p:txBody>
      </p:sp>
      <p:sp>
        <p:nvSpPr>
          <p:cNvPr id="35" name="Text 31"/>
          <p:cNvSpPr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28825" y="0"/>
            <a:ext cx="2038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67175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0" y="0"/>
            <a:ext cx="2038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&amp; INTEL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134350" y="0"/>
            <a:ext cx="2028825" cy="3429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8134350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163175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1500" y="533400"/>
            <a:ext cx="38100" cy="2667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723900" y="495300"/>
            <a:ext cx="5715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1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Sanitization</a:t>
            </a:r>
            <a:endParaRPr lang="en-US" sz="2100" dirty="0"/>
          </a:p>
        </p:txBody>
      </p:sp>
      <p:pic>
        <p:nvPicPr>
          <p:cNvPr id="12" name="Image 0" descr="https://kimi-img.moonshot.cn/pub/slides/okc/ajpfdnh3gjiss/mnt/agents/output/cybersecurity-sandbox/images/WhatsApp%20Image%202026-06-18%20at%201.58.33%20AM%20%281%29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000125"/>
            <a:ext cx="6477000" cy="3524250"/>
          </a:xfrm>
          <a:prstGeom prst="roundRect">
            <a:avLst>
              <a:gd name="adj" fmla="val 5000"/>
            </a:avLst>
          </a:prstGeom>
          <a:effectLst>
            <a:outerShdw blurRad="177800" dist="50800" dir="5400000" algn="bl" rotWithShape="0">
              <a:srgbClr val="0D7377">
                <a:alpha val="12549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571500" y="4572000"/>
            <a:ext cx="6477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Threat Vectors (Dangerzone) — Document Upload &amp; Sanitization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34250" y="1000125"/>
            <a:ext cx="4286250" cy="3524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D7377">
                <a:alpha val="6275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5" name="Text 12"/>
          <p:cNvSpPr/>
          <p:nvPr/>
        </p:nvSpPr>
        <p:spPr>
          <a:xfrm>
            <a:off x="7524750" y="1123950"/>
            <a:ext cx="39052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Dangerzone Engine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524750" y="1476375"/>
            <a:ext cx="3905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125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weaponized documents by converting them to safe, flattened PDFs.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7524750" y="2143125"/>
            <a:ext cx="3905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Sanitization Process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24750" y="2438400"/>
            <a:ext cx="390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Upload suspicious PDF, DOCX, or XLSX file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524750" y="2876550"/>
            <a:ext cx="390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Spin up isolated Dangerzone container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524750" y="3314700"/>
            <a:ext cx="390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Convert each page to raw pixels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524750" y="3752850"/>
            <a:ext cx="390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Render back to clean, safe PDF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524750" y="4191000"/>
            <a:ext cx="1905000" cy="2667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3" name="Text 20"/>
          <p:cNvSpPr/>
          <p:nvPr/>
        </p:nvSpPr>
        <p:spPr>
          <a:xfrm>
            <a:off x="7524750" y="4191000"/>
            <a:ext cx="1905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Macros, JS, Links Removed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71500" y="5000625"/>
            <a:ext cx="11049000" cy="428625"/>
          </a:xfrm>
          <a:prstGeom prst="roundRect">
            <a:avLst>
              <a:gd name="adj" fmla="val 6000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5" name="Text 22"/>
          <p:cNvSpPr/>
          <p:nvPr/>
        </p:nvSpPr>
        <p:spPr>
          <a:xfrm>
            <a:off x="762000" y="5000625"/>
            <a:ext cx="10668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r>
              <a:rPr lang="en-US" sz="1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analyst safely downloads a completely sanitized, fully functional copy of the document with all malicious active content stripped out.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28825" y="0"/>
            <a:ext cx="2038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67175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0" y="0"/>
            <a:ext cx="2038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&amp; INTEL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34350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163175" y="0"/>
            <a:ext cx="2028825" cy="3429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10163175" y="0"/>
            <a:ext cx="202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kern="0" spc="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1500" y="533400"/>
            <a:ext cx="38100" cy="2667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723900" y="495300"/>
            <a:ext cx="666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1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Sandbox Instrumentation</a:t>
            </a:r>
            <a:endParaRPr lang="en-US" sz="2100" dirty="0"/>
          </a:p>
        </p:txBody>
      </p:sp>
      <p:pic>
        <p:nvPicPr>
          <p:cNvPr id="12" name="Image 0" descr="https://kimi-img.moonshot.cn/pub/slides/okc/ajpfdnh3gjiss/mnt/agents/output/cybersecurity-sandbox/images/WhatsApp%20Image%202026-06-18%20at%202.00.30%20A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000125"/>
            <a:ext cx="6477000" cy="3524250"/>
          </a:xfrm>
          <a:prstGeom prst="roundRect">
            <a:avLst>
              <a:gd name="adj" fmla="val 5000"/>
            </a:avLst>
          </a:prstGeom>
          <a:effectLst>
            <a:outerShdw blurRad="177800" dist="50800" dir="5400000" algn="bl" rotWithShape="0">
              <a:srgbClr val="0D7377">
                <a:alpha val="12549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571500" y="4572000"/>
            <a:ext cx="6477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Features — DRAKVUF VMI, Cowrie Honeypot, MITRE Heuristic Engine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34250" y="1000125"/>
            <a:ext cx="4286250" cy="10953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D7377">
                <a:alpha val="6275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5" name="Shape 12"/>
          <p:cNvSpPr/>
          <p:nvPr/>
        </p:nvSpPr>
        <p:spPr>
          <a:xfrm>
            <a:off x="7524750" y="11239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0D7377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6" name="Text 13"/>
          <p:cNvSpPr/>
          <p:nvPr/>
        </p:nvSpPr>
        <p:spPr>
          <a:xfrm>
            <a:off x="7886700" y="1104900"/>
            <a:ext cx="35242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DRAKVUF Hypervisor Introspection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24750" y="1409700"/>
            <a:ext cx="3905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Agentless VMI for deep kernel page table modifications and memory dumps via Xen hypervisor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334250" y="2238375"/>
            <a:ext cx="4286250" cy="10953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D7377">
                <a:alpha val="6275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9" name="Shape 16"/>
          <p:cNvSpPr/>
          <p:nvPr/>
        </p:nvSpPr>
        <p:spPr>
          <a:xfrm>
            <a:off x="7524750" y="23622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0" name="Text 17"/>
          <p:cNvSpPr/>
          <p:nvPr/>
        </p:nvSpPr>
        <p:spPr>
          <a:xfrm>
            <a:off x="7886700" y="2343150"/>
            <a:ext cx="35242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Cowrie Honeypot Ingestion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24750" y="2647950"/>
            <a:ext cx="3905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simulation of attacks, logins, and downloads captured on public Cowrie honeypots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334250" y="3476625"/>
            <a:ext cx="4286250" cy="10953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D7377">
                <a:alpha val="6275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3" name="Shape 20"/>
          <p:cNvSpPr/>
          <p:nvPr/>
        </p:nvSpPr>
        <p:spPr>
          <a:xfrm>
            <a:off x="7524750" y="36004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-11112"/>
                </a:moveTo>
                <a:cubicBezTo>
                  <a:pt x="188727" y="-11112"/>
                  <a:pt x="197556" y="-1181"/>
                  <a:pt x="197556" y="11112"/>
                </a:cubicBezTo>
                <a:lnTo>
                  <a:pt x="197556" y="23822"/>
                </a:lnTo>
                <a:cubicBezTo>
                  <a:pt x="258119" y="33546"/>
                  <a:pt x="306026" y="87441"/>
                  <a:pt x="314669" y="155575"/>
                </a:cubicBezTo>
                <a:lnTo>
                  <a:pt x="325967" y="155575"/>
                </a:lnTo>
                <a:cubicBezTo>
                  <a:pt x="336894" y="155575"/>
                  <a:pt x="345722" y="165507"/>
                  <a:pt x="345722" y="177800"/>
                </a:cubicBezTo>
                <a:cubicBezTo>
                  <a:pt x="345722" y="190093"/>
                  <a:pt x="336894" y="200025"/>
                  <a:pt x="325967" y="200025"/>
                </a:cubicBezTo>
                <a:lnTo>
                  <a:pt x="314669" y="200025"/>
                </a:lnTo>
                <a:cubicBezTo>
                  <a:pt x="306026" y="268159"/>
                  <a:pt x="258119" y="322054"/>
                  <a:pt x="197556" y="331778"/>
                </a:cubicBezTo>
                <a:lnTo>
                  <a:pt x="197556" y="344488"/>
                </a:lnTo>
                <a:cubicBezTo>
                  <a:pt x="197556" y="356781"/>
                  <a:pt x="188727" y="366712"/>
                  <a:pt x="177800" y="366712"/>
                </a:cubicBezTo>
                <a:cubicBezTo>
                  <a:pt x="166873" y="366712"/>
                  <a:pt x="158044" y="356781"/>
                  <a:pt x="158044" y="344488"/>
                </a:cubicBezTo>
                <a:lnTo>
                  <a:pt x="158044" y="331778"/>
                </a:lnTo>
                <a:cubicBezTo>
                  <a:pt x="97481" y="322054"/>
                  <a:pt x="49574" y="268159"/>
                  <a:pt x="40931" y="200025"/>
                </a:cubicBezTo>
                <a:lnTo>
                  <a:pt x="29633" y="200025"/>
                </a:lnTo>
                <a:cubicBezTo>
                  <a:pt x="18706" y="200025"/>
                  <a:pt x="9878" y="190093"/>
                  <a:pt x="9878" y="177800"/>
                </a:cubicBezTo>
                <a:cubicBezTo>
                  <a:pt x="9878" y="165507"/>
                  <a:pt x="18706" y="155575"/>
                  <a:pt x="29633" y="155575"/>
                </a:cubicBezTo>
                <a:lnTo>
                  <a:pt x="40931" y="155575"/>
                </a:lnTo>
                <a:cubicBezTo>
                  <a:pt x="49574" y="87441"/>
                  <a:pt x="97481" y="33546"/>
                  <a:pt x="158044" y="23822"/>
                </a:cubicBezTo>
                <a:lnTo>
                  <a:pt x="158044" y="11112"/>
                </a:lnTo>
                <a:cubicBezTo>
                  <a:pt x="158044" y="-1181"/>
                  <a:pt x="166873" y="-11112"/>
                  <a:pt x="177800" y="-11112"/>
                </a:cubicBezTo>
                <a:close/>
                <a:moveTo>
                  <a:pt x="80998" y="200025"/>
                </a:moveTo>
                <a:cubicBezTo>
                  <a:pt x="88838" y="243572"/>
                  <a:pt x="119336" y="277882"/>
                  <a:pt x="158044" y="286703"/>
                </a:cubicBezTo>
                <a:lnTo>
                  <a:pt x="158044" y="277813"/>
                </a:lnTo>
                <a:cubicBezTo>
                  <a:pt x="158044" y="265519"/>
                  <a:pt x="166873" y="255587"/>
                  <a:pt x="177800" y="255587"/>
                </a:cubicBezTo>
                <a:cubicBezTo>
                  <a:pt x="188727" y="255587"/>
                  <a:pt x="197556" y="265519"/>
                  <a:pt x="197556" y="277813"/>
                </a:cubicBezTo>
                <a:lnTo>
                  <a:pt x="197556" y="286703"/>
                </a:lnTo>
                <a:cubicBezTo>
                  <a:pt x="236264" y="277882"/>
                  <a:pt x="266762" y="243572"/>
                  <a:pt x="274602" y="200025"/>
                </a:cubicBezTo>
                <a:lnTo>
                  <a:pt x="266700" y="200025"/>
                </a:lnTo>
                <a:cubicBezTo>
                  <a:pt x="255773" y="200025"/>
                  <a:pt x="246944" y="190093"/>
                  <a:pt x="246944" y="177800"/>
                </a:cubicBezTo>
                <a:cubicBezTo>
                  <a:pt x="246944" y="165507"/>
                  <a:pt x="255773" y="155575"/>
                  <a:pt x="266700" y="155575"/>
                </a:cubicBezTo>
                <a:lnTo>
                  <a:pt x="274602" y="155575"/>
                </a:lnTo>
                <a:cubicBezTo>
                  <a:pt x="266762" y="112028"/>
                  <a:pt x="236264" y="77718"/>
                  <a:pt x="197556" y="68898"/>
                </a:cubicBezTo>
                <a:lnTo>
                  <a:pt x="197556" y="77788"/>
                </a:lnTo>
                <a:cubicBezTo>
                  <a:pt x="197556" y="90081"/>
                  <a:pt x="188727" y="100013"/>
                  <a:pt x="177800" y="100013"/>
                </a:cubicBezTo>
                <a:cubicBezTo>
                  <a:pt x="166873" y="100013"/>
                  <a:pt x="158044" y="90081"/>
                  <a:pt x="158044" y="77788"/>
                </a:cubicBezTo>
                <a:lnTo>
                  <a:pt x="158044" y="68898"/>
                </a:lnTo>
                <a:cubicBezTo>
                  <a:pt x="119336" y="77718"/>
                  <a:pt x="88838" y="112028"/>
                  <a:pt x="80998" y="155575"/>
                </a:cubicBezTo>
                <a:lnTo>
                  <a:pt x="88900" y="155575"/>
                </a:lnTo>
                <a:cubicBezTo>
                  <a:pt x="99827" y="155575"/>
                  <a:pt x="108656" y="165507"/>
                  <a:pt x="108656" y="177800"/>
                </a:cubicBezTo>
                <a:cubicBezTo>
                  <a:pt x="108656" y="190093"/>
                  <a:pt x="99827" y="200025"/>
                  <a:pt x="88900" y="200025"/>
                </a:cubicBezTo>
                <a:lnTo>
                  <a:pt x="80998" y="200025"/>
                </a:lnTo>
                <a:close/>
                <a:moveTo>
                  <a:pt x="177800" y="144463"/>
                </a:moveTo>
                <a:cubicBezTo>
                  <a:pt x="194155" y="144463"/>
                  <a:pt x="207433" y="159401"/>
                  <a:pt x="207433" y="177800"/>
                </a:cubicBezTo>
                <a:cubicBezTo>
                  <a:pt x="207433" y="196199"/>
                  <a:pt x="194155" y="211138"/>
                  <a:pt x="177800" y="211138"/>
                </a:cubicBezTo>
                <a:cubicBezTo>
                  <a:pt x="161445" y="211138"/>
                  <a:pt x="148167" y="196199"/>
                  <a:pt x="148167" y="177800"/>
                </a:cubicBezTo>
                <a:cubicBezTo>
                  <a:pt x="148167" y="159401"/>
                  <a:pt x="161445" y="144463"/>
                  <a:pt x="177800" y="144463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4" name="Text 21"/>
          <p:cNvSpPr/>
          <p:nvPr/>
        </p:nvSpPr>
        <p:spPr>
          <a:xfrm>
            <a:off x="7886700" y="3581400"/>
            <a:ext cx="35242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MITRE Heuristic Engine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524750" y="3886200"/>
            <a:ext cx="3905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and behavioral signature mappings matching techniques against execution telemetry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71500" y="5000625"/>
            <a:ext cx="11049000" cy="7620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  <a:effectLst>
            <a:outerShdw blurRad="127000" dist="38100" dir="5400000" algn="bl" rotWithShape="0">
              <a:srgbClr val="0D7377">
                <a:alpha val="12549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27" name="Shape 24"/>
          <p:cNvSpPr/>
          <p:nvPr/>
        </p:nvSpPr>
        <p:spPr>
          <a:xfrm>
            <a:off x="762000" y="519112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8" name="Text 25"/>
          <p:cNvSpPr/>
          <p:nvPr/>
        </p:nvSpPr>
        <p:spPr>
          <a:xfrm>
            <a:off x="1123950" y="5048250"/>
            <a:ext cx="19050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123950" y="5334000"/>
            <a:ext cx="10287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macOS/Linux detonation targets · Real-time YARA scanning · Hardware-nested Xen hosts · Enhanced memory forensics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9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</Words>
  <Application>Microsoft Office PowerPoint</Application>
  <PresentationFormat>Widescreen</PresentationFormat>
  <Paragraphs>75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Liter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Alaa Ahmed Mobarak</dc:creator>
  <cp:lastModifiedBy>Ahmed Alaa Ahmed Mobarak</cp:lastModifiedBy>
  <cp:revision>1</cp:revision>
  <dcterms:created xsi:type="dcterms:W3CDTF">2026-06-18T02:43:39Z</dcterms:created>
  <dcterms:modified xsi:type="dcterms:W3CDTF">2026-06-18T02:43:56Z</dcterms:modified>
</cp:coreProperties>
</file>